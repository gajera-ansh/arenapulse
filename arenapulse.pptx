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99010B-1768-B4E2-CE69-7E38FDA24869}" v="34" dt="2026-08-01T14:54:29.278"/>
    <p1510:client id="{67B11BAA-22C8-24C6-68A8-CD599104238F}" v="3" dt="2026-08-01T14:47:28.514"/>
    <p1510:client id="{D92153DC-CD9B-4AAF-BD9A-9AC8B0D870BB}" v="7" dt="2026-08-01T14:36:39.4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677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AA9BB-BD6C-D8B6-F7A1-723F5B4430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44023-D2AF-B01E-FCA1-2746D1A7FC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FE4AD-9505-1CD5-BF16-6EFAF88E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EA6D-B83E-4AB5-8B69-346DCA8967D7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AC9EE-31CF-C90B-C2A3-D557B21AD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4955C-9DDC-02F7-82E4-2E571279C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B53F3-D27C-4AB2-9457-D59DC84C0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21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172E7-4676-62CA-EE49-059A93A5B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F6530-8140-4677-5FC8-6F087AB78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58B83-C543-09C4-F653-0690D21F0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EA6D-B83E-4AB5-8B69-346DCA8967D7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5AFC8-74FE-99B3-BED3-F17141F6D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8E501-9413-313F-9141-03CB7DF0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B53F3-D27C-4AB2-9457-D59DC84C0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508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DE00A-2225-4332-8F21-213F9111A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CB307-F1B1-2AAD-8388-BDD26E9C1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70A0F-0DC4-E9B6-F6A1-113771C96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EA6D-B83E-4AB5-8B69-346DCA8967D7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934E2-67D5-5526-1623-8A92BD2A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5C500-01C9-452D-D80F-3FF589C6E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B53F3-D27C-4AB2-9457-D59DC84C0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226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0FE3A-D499-56D1-7720-4867D7743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AEF3A-8835-30C5-7835-4FDA4EC3FB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810AA-C2B7-48E2-6BC9-D3ED2CD19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3023D-24E5-CEA7-E448-E1EEE996B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EA6D-B83E-4AB5-8B69-346DCA8967D7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A7EC8-FBDC-985A-01AD-51F608A2C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EC66E-4CDB-D79F-2F12-5ECFF7AF6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B53F3-D27C-4AB2-9457-D59DC84C0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205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DE10-8BE2-F638-9D1B-C8C4F798E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0520A-0691-A840-2429-76E47FACC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62117-5FCF-56E2-7E1F-DD39B1D54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D6F917-CE00-4F2E-A440-C9974C6BE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25EC9A-615A-E692-BCF9-9EB6DD504B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18BBD-8CE0-F773-D4CB-118053819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EA6D-B83E-4AB5-8B69-346DCA8967D7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432979-5E25-3A9B-C271-5C5DFF442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8EB567-C7A9-2F91-EF7D-143AA254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B53F3-D27C-4AB2-9457-D59DC84C0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281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3ED54-D179-7F03-8320-BEE058A2B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7E0445-7C00-0F94-228C-E09F42140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EA6D-B83E-4AB5-8B69-346DCA8967D7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140E8B-7036-233E-881E-EB8B2B2BD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A59391-9D82-B9DD-3545-5E437B30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B53F3-D27C-4AB2-9457-D59DC84C0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422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932C14-E435-3B42-F35E-370FA82D8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EA6D-B83E-4AB5-8B69-346DCA8967D7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F6E83-0772-3C0D-5F18-F9B6FA018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2753E-58F4-5486-4222-73FB15E22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B53F3-D27C-4AB2-9457-D59DC84C0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989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7BAF6-5685-4653-7315-B9B8B8B84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87489-D288-8B64-153F-4E5317CB9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9A685-EDB2-0979-F7CF-035D09D86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73FA9-3DBD-075A-3D40-29155152B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EA6D-B83E-4AB5-8B69-346DCA8967D7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1EA87-3F8A-657B-9164-F1B67A0CB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3EE06-71E3-49FE-87FE-6A0DEADF0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B53F3-D27C-4AB2-9457-D59DC84C0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205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C87B-618D-1555-916D-B09F5FEDA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EE59A6-8D1E-8E84-A6CB-C7C7C09131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63326D-117A-34DD-8542-A2FC92FE4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00499-DEEC-424D-FE5D-488A581AD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EA6D-B83E-4AB5-8B69-346DCA8967D7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8DDF2-D577-1918-2163-788B95520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C9089-7A6C-CAFC-A150-D9A8B9F59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B53F3-D27C-4AB2-9457-D59DC84C0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11A21-06F0-6A8A-7AB6-122E6B794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82640E-E0D1-D3AC-9836-72B3A636A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95FAC-00ED-6106-221B-602EE1B7E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EA6D-B83E-4AB5-8B69-346DCA8967D7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994E2-AD54-4C6F-BD71-4D6B87A0A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D577E-0042-95DB-2FBA-FE601C28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B53F3-D27C-4AB2-9457-D59DC84C0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049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9B6AAC-290F-3D51-62AA-CF0305E7C9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12AD52-3A7B-DE63-E0D4-F8C20E2F1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4A228-5C9A-D96F-5EFF-E698E3606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EA6D-B83E-4AB5-8B69-346DCA8967D7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8D73B-8A61-9D3F-D0F3-739786B8A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E09DE-63EA-38A9-AA2B-11BACFFA3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B53F3-D27C-4AB2-9457-D59DC84C0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221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8D79D5-7819-6746-566F-8134BE10E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56943-A74A-726E-E80A-F85D99960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A8C7F-F95D-1B18-79E7-AEAEC725A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9EA6D-B83E-4AB5-8B69-346DCA8967D7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B0AA1-EC0A-FB2D-C290-A92CCE91B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801D3-5645-477A-C124-66D858194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B53F3-D27C-4AB2-9457-D59DC84C0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0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7.png"/><Relationship Id="rId7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>
            <a:alpha val="2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0558014-EF03-6A96-E490-23975B2C2467}"/>
              </a:ext>
            </a:extLst>
          </p:cNvPr>
          <p:cNvGrpSpPr/>
          <p:nvPr/>
        </p:nvGrpSpPr>
        <p:grpSpPr>
          <a:xfrm>
            <a:off x="2738757" y="1127528"/>
            <a:ext cx="6714486" cy="1494627"/>
            <a:chOff x="2408437" y="665614"/>
            <a:chExt cx="6714486" cy="149462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805ACA4-7178-7619-A827-73B09EC5313C}"/>
                </a:ext>
              </a:extLst>
            </p:cNvPr>
            <p:cNvSpPr txBox="1"/>
            <p:nvPr/>
          </p:nvSpPr>
          <p:spPr>
            <a:xfrm>
              <a:off x="4069198" y="832319"/>
              <a:ext cx="5053725" cy="101566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6600" b="0" i="0" u="none" dirty="0">
                  <a:solidFill>
                    <a:srgbClr val="2563EB"/>
                  </a:solidFill>
                  <a:latin typeface="Poppins ExtraBold"/>
                </a:rPr>
                <a:t>Aren</a:t>
              </a:r>
              <a:r>
                <a:rPr lang="en-IN" sz="6600" dirty="0">
                  <a:solidFill>
                    <a:srgbClr val="2563EB"/>
                  </a:solidFill>
                  <a:latin typeface="Poppins ExtraBold"/>
                </a:rPr>
                <a:t>aPulse</a:t>
              </a:r>
              <a:endParaRPr sz="6600" b="0" i="0" u="none" dirty="0">
                <a:solidFill>
                  <a:srgbClr val="F97316"/>
                </a:solidFill>
                <a:latin typeface="Poppins ExtraBold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7C41813-15E9-E501-515B-B877D6DB1D1B}"/>
                </a:ext>
              </a:extLst>
            </p:cNvPr>
            <p:cNvSpPr txBox="1"/>
            <p:nvPr/>
          </p:nvSpPr>
          <p:spPr>
            <a:xfrm>
              <a:off x="4266623" y="1673767"/>
              <a:ext cx="4658874" cy="3484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sz="1400" b="0" i="0" u="none" dirty="0">
                  <a:solidFill>
                    <a:schemeClr val="accent2">
                      <a:lumMod val="75000"/>
                    </a:schemeClr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The Next-Generation Esports Tournament Platform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3DB6F31-ECDC-50DF-3B77-AD890983A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08437" y="665614"/>
              <a:ext cx="1477447" cy="1494627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D0D60D3-C99D-1F07-A6F7-ED764F57F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5818" y="0"/>
            <a:ext cx="3217328" cy="6131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E89096-9A00-39F6-C59B-4E44F6C881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70"/>
            <a:ext cx="631596" cy="661295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10C19FC0-5C51-0F05-636C-F32B3E8DE6D2}"/>
              </a:ext>
            </a:extLst>
          </p:cNvPr>
          <p:cNvGrpSpPr/>
          <p:nvPr/>
        </p:nvGrpSpPr>
        <p:grpSpPr>
          <a:xfrm>
            <a:off x="1473003" y="4085563"/>
            <a:ext cx="4622997" cy="1478204"/>
            <a:chOff x="1551560" y="4522513"/>
            <a:chExt cx="4622997" cy="147820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3D740F1-2544-AF12-AE56-08436092F45F}"/>
                </a:ext>
              </a:extLst>
            </p:cNvPr>
            <p:cNvSpPr txBox="1"/>
            <p:nvPr/>
          </p:nvSpPr>
          <p:spPr>
            <a:xfrm>
              <a:off x="1551560" y="4522513"/>
              <a:ext cx="45444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2563EB"/>
                </a:buClr>
                <a:buFont typeface="Wingdings" panose="05000000000000000000" pitchFamily="2" charset="2"/>
                <a:buChar char="Ø"/>
              </a:pPr>
              <a:r>
                <a:rPr lang="en-US" sz="2000" b="1" dirty="0">
                  <a:solidFill>
                    <a:srgbClr val="2563EB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GAJERA ANSH</a:t>
              </a:r>
              <a:endParaRPr lang="en-IN" b="1" dirty="0">
                <a:solidFill>
                  <a:srgbClr val="2563EB"/>
                </a:solidFill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8C80E2-BB12-7B35-9AC4-7CECECC9D510}"/>
                </a:ext>
              </a:extLst>
            </p:cNvPr>
            <p:cNvSpPr txBox="1"/>
            <p:nvPr/>
          </p:nvSpPr>
          <p:spPr>
            <a:xfrm>
              <a:off x="1791093" y="4890420"/>
              <a:ext cx="43834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2563EB"/>
                </a:buClr>
              </a:pPr>
              <a:r>
                <a:rPr lang="en-IN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 </a:t>
              </a:r>
              <a:r>
                <a:rPr lang="en-IN" sz="2000" b="1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ENROLLMENT NO</a:t>
              </a:r>
              <a:r>
                <a:rPr lang="en-IN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: </a:t>
              </a:r>
              <a:r>
                <a:rPr lang="en-IN" sz="2000" dirty="0">
                  <a:latin typeface="Poppins" panose="00000500000000000000" pitchFamily="2" charset="0"/>
                  <a:cs typeface="Poppins" panose="00000500000000000000" pitchFamily="2" charset="0"/>
                </a:rPr>
                <a:t>24002171310037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3DDA142-BB71-A989-2B6C-ABDEB4192872}"/>
                </a:ext>
              </a:extLst>
            </p:cNvPr>
            <p:cNvSpPr txBox="1"/>
            <p:nvPr/>
          </p:nvSpPr>
          <p:spPr>
            <a:xfrm>
              <a:off x="1787589" y="5258327"/>
              <a:ext cx="43834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2563EB"/>
                </a:buClr>
              </a:pPr>
              <a:r>
                <a:rPr lang="en-IN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 </a:t>
              </a:r>
              <a:r>
                <a:rPr lang="en-IN" sz="2000" b="1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BRANCH</a:t>
              </a:r>
              <a:r>
                <a:rPr lang="en-IN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: </a:t>
              </a:r>
              <a:r>
                <a:rPr lang="en-IN" sz="2000" dirty="0">
                  <a:latin typeface="Poppins" panose="00000500000000000000" pitchFamily="2" charset="0"/>
                  <a:cs typeface="Poppins" panose="00000500000000000000" pitchFamily="2" charset="0"/>
                </a:rPr>
                <a:t>CST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1D04ADC-2B15-BA94-2955-CE7F1C77DCF2}"/>
                </a:ext>
              </a:extLst>
            </p:cNvPr>
            <p:cNvSpPr txBox="1"/>
            <p:nvPr/>
          </p:nvSpPr>
          <p:spPr>
            <a:xfrm>
              <a:off x="1791093" y="5600607"/>
              <a:ext cx="43834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2563EB"/>
                </a:buClr>
              </a:pPr>
              <a:r>
                <a:rPr lang="en-IN" sz="2000" dirty="0"/>
                <a:t> </a:t>
              </a:r>
              <a:r>
                <a:rPr lang="en-IN" sz="2000" b="1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ROLL NO</a:t>
              </a:r>
              <a:r>
                <a:rPr lang="en-IN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:</a:t>
              </a:r>
              <a:r>
                <a:rPr lang="en-IN" sz="2000" dirty="0"/>
                <a:t> </a:t>
              </a:r>
              <a:r>
                <a:rPr lang="en-IN" sz="2000" dirty="0">
                  <a:latin typeface="Poppins" panose="00000500000000000000" pitchFamily="2" charset="0"/>
                  <a:cs typeface="Poppins" panose="00000500000000000000" pitchFamily="2" charset="0"/>
                </a:rPr>
                <a:t>42</a:t>
              </a:r>
              <a:endParaRPr lang="en-IN" sz="2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14D000-F5F4-95BF-2264-6AF254B3F8A6}"/>
              </a:ext>
            </a:extLst>
          </p:cNvPr>
          <p:cNvGrpSpPr/>
          <p:nvPr/>
        </p:nvGrpSpPr>
        <p:grpSpPr>
          <a:xfrm>
            <a:off x="6096000" y="4085563"/>
            <a:ext cx="4622997" cy="1478204"/>
            <a:chOff x="1551560" y="4522513"/>
            <a:chExt cx="4622997" cy="1478204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4F151EF-F23B-F02C-72C8-59E1BC29D09B}"/>
                </a:ext>
              </a:extLst>
            </p:cNvPr>
            <p:cNvSpPr txBox="1"/>
            <p:nvPr/>
          </p:nvSpPr>
          <p:spPr>
            <a:xfrm>
              <a:off x="1551560" y="4522513"/>
              <a:ext cx="45444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2563EB"/>
                </a:buClr>
                <a:buFont typeface="Wingdings" panose="05000000000000000000" pitchFamily="2" charset="2"/>
                <a:buChar char="Ø"/>
              </a:pPr>
              <a:r>
                <a:rPr lang="en-US" sz="2000" b="1" dirty="0">
                  <a:solidFill>
                    <a:srgbClr val="2563EB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GAJJAR VANSH</a:t>
              </a:r>
              <a:endParaRPr lang="en-IN" b="1" dirty="0">
                <a:solidFill>
                  <a:srgbClr val="2563EB"/>
                </a:solidFill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BDDA674-3EB6-C872-E1E0-C9064C595144}"/>
                </a:ext>
              </a:extLst>
            </p:cNvPr>
            <p:cNvSpPr txBox="1"/>
            <p:nvPr/>
          </p:nvSpPr>
          <p:spPr>
            <a:xfrm>
              <a:off x="1791093" y="4890420"/>
              <a:ext cx="43834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2563EB"/>
                </a:buClr>
              </a:pPr>
              <a:r>
                <a:rPr lang="en-IN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 </a:t>
              </a:r>
              <a:r>
                <a:rPr lang="en-IN" sz="2000" b="1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ENROLLMENT NO</a:t>
              </a:r>
              <a:r>
                <a:rPr lang="en-IN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: </a:t>
              </a:r>
              <a:r>
                <a:rPr lang="en-IN" sz="2000" dirty="0">
                  <a:latin typeface="Poppins" panose="00000500000000000000" pitchFamily="2" charset="0"/>
                  <a:cs typeface="Poppins" panose="00000500000000000000" pitchFamily="2" charset="0"/>
                </a:rPr>
                <a:t>24002171910007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A9CF56F-EEC3-4C4C-60F0-2D19A87E889F}"/>
                </a:ext>
              </a:extLst>
            </p:cNvPr>
            <p:cNvSpPr txBox="1"/>
            <p:nvPr/>
          </p:nvSpPr>
          <p:spPr>
            <a:xfrm>
              <a:off x="1787589" y="5258327"/>
              <a:ext cx="43834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2563EB"/>
                </a:buClr>
              </a:pPr>
              <a:r>
                <a:rPr lang="en-IN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 </a:t>
              </a:r>
              <a:r>
                <a:rPr lang="en-IN" sz="2000" b="1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BRANCH</a:t>
              </a:r>
              <a:r>
                <a:rPr lang="en-IN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: </a:t>
              </a:r>
              <a:r>
                <a:rPr lang="en-IN" sz="2000" dirty="0">
                  <a:latin typeface="Poppins" panose="00000500000000000000" pitchFamily="2" charset="0"/>
                  <a:cs typeface="Poppins" panose="00000500000000000000" pitchFamily="2" charset="0"/>
                </a:rPr>
                <a:t>CSE_CS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8EB9E8D-4808-815F-C168-ABD5AEEF2517}"/>
                </a:ext>
              </a:extLst>
            </p:cNvPr>
            <p:cNvSpPr txBox="1"/>
            <p:nvPr/>
          </p:nvSpPr>
          <p:spPr>
            <a:xfrm>
              <a:off x="1791093" y="5600607"/>
              <a:ext cx="43834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2563EB"/>
                </a:buClr>
              </a:pPr>
              <a:r>
                <a:rPr lang="en-IN" sz="2000" dirty="0"/>
                <a:t> </a:t>
              </a:r>
              <a:r>
                <a:rPr lang="en-IN" sz="2000" b="1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ROLL NO</a:t>
              </a:r>
              <a:r>
                <a:rPr lang="en-IN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:</a:t>
              </a:r>
              <a:r>
                <a:rPr lang="en-IN" sz="2000" dirty="0"/>
                <a:t> </a:t>
              </a:r>
              <a:r>
                <a:rPr lang="en-IN" sz="2000" dirty="0">
                  <a:latin typeface="Poppins" panose="00000500000000000000" pitchFamily="2" charset="0"/>
                  <a:cs typeface="Poppins" panose="00000500000000000000" pitchFamily="2" charset="0"/>
                </a:rPr>
                <a:t>52</a:t>
              </a:r>
              <a:endParaRPr lang="en-IN" sz="2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251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168A630-74BC-B5BA-5E64-9C24801C387C}"/>
              </a:ext>
            </a:extLst>
          </p:cNvPr>
          <p:cNvGrpSpPr/>
          <p:nvPr/>
        </p:nvGrpSpPr>
        <p:grpSpPr>
          <a:xfrm>
            <a:off x="571500" y="873158"/>
            <a:ext cx="11601646" cy="551433"/>
            <a:chOff x="571500" y="873158"/>
            <a:chExt cx="11590020" cy="55143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882D7B7-E4CA-0BC1-5DFB-71D42161471A}"/>
                </a:ext>
              </a:extLst>
            </p:cNvPr>
            <p:cNvSpPr txBox="1"/>
            <p:nvPr/>
          </p:nvSpPr>
          <p:spPr>
            <a:xfrm>
              <a:off x="800100" y="873158"/>
              <a:ext cx="11361420" cy="55143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sz="3600" i="0" u="none" dirty="0">
                  <a:solidFill>
                    <a:srgbClr val="0F172A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Evolving Esports Management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95729F4-86A5-C0E8-3718-CA606731DF63}"/>
                </a:ext>
              </a:extLst>
            </p:cNvPr>
            <p:cNvSpPr/>
            <p:nvPr/>
          </p:nvSpPr>
          <p:spPr>
            <a:xfrm>
              <a:off x="571500" y="873158"/>
              <a:ext cx="76200" cy="54858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4330888-B930-776E-6A6F-7A8FD7AE0317}"/>
              </a:ext>
            </a:extLst>
          </p:cNvPr>
          <p:cNvGrpSpPr/>
          <p:nvPr/>
        </p:nvGrpSpPr>
        <p:grpSpPr>
          <a:xfrm>
            <a:off x="571500" y="2052166"/>
            <a:ext cx="5112863" cy="1318053"/>
            <a:chOff x="571500" y="1939676"/>
            <a:chExt cx="5112863" cy="131805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F6CCF9F-8380-7ACA-A9FE-7AA4BAD8B3BC}"/>
                </a:ext>
              </a:extLst>
            </p:cNvPr>
            <p:cNvSpPr txBox="1"/>
            <p:nvPr/>
          </p:nvSpPr>
          <p:spPr>
            <a:xfrm>
              <a:off x="1095375" y="1939676"/>
              <a:ext cx="4588988" cy="13180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sz="2400" b="1" i="0" u="none" dirty="0">
                  <a:solidFill>
                    <a:srgbClr val="2563EB"/>
                  </a:solidFill>
                  <a:latin typeface="Inter"/>
                </a:rPr>
                <a:t>The Problem</a:t>
              </a:r>
              <a:r>
                <a:rPr lang="en-IN" sz="2000" b="1" i="0" u="none" dirty="0">
                  <a:solidFill>
                    <a:srgbClr val="2563EB"/>
                  </a:solidFill>
                  <a:latin typeface="Inter"/>
                </a:rPr>
                <a:t>:</a:t>
              </a:r>
              <a:r>
                <a:rPr sz="2000" b="0" i="0" u="none" dirty="0">
                  <a:solidFill>
                    <a:srgbClr val="475569"/>
                  </a:solidFill>
                  <a:latin typeface="Inter"/>
                </a:rPr>
                <a:t> Organizing tournaments usually requires messy spreadsheets, manual bracket updates, and scattered third-party chat apps.</a:t>
              </a:r>
            </a:p>
          </p:txBody>
        </p:sp>
        <p:pic>
          <p:nvPicPr>
            <p:cNvPr id="13" name="Picture 12" descr="image.png">
              <a:extLst>
                <a:ext uri="{FF2B5EF4-FFF2-40B4-BE49-F238E27FC236}">
                  <a16:creationId xmlns:a16="http://schemas.microsoft.com/office/drawing/2014/main" id="{8B0BFA46-53B1-57A3-4EED-92DC5DBD9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973014"/>
              <a:ext cx="266700" cy="276225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63C71D8-AB1C-5FB9-4720-BC56B54E3C9A}"/>
              </a:ext>
            </a:extLst>
          </p:cNvPr>
          <p:cNvGrpSpPr/>
          <p:nvPr/>
        </p:nvGrpSpPr>
        <p:grpSpPr>
          <a:xfrm>
            <a:off x="571500" y="4031132"/>
            <a:ext cx="4978433" cy="1342378"/>
            <a:chOff x="571500" y="3961607"/>
            <a:chExt cx="4978433" cy="13423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031110D-09D9-C4D0-06DD-931E3036CBA4}"/>
                </a:ext>
              </a:extLst>
            </p:cNvPr>
            <p:cNvSpPr txBox="1"/>
            <p:nvPr/>
          </p:nvSpPr>
          <p:spPr>
            <a:xfrm>
              <a:off x="1095375" y="3997794"/>
              <a:ext cx="4454558" cy="130619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sz="2400" b="1" i="0" u="none" dirty="0">
                  <a:solidFill>
                    <a:srgbClr val="2563EB"/>
                  </a:solidFill>
                  <a:latin typeface="Inter"/>
                </a:rPr>
                <a:t>The Solution</a:t>
              </a:r>
              <a:r>
                <a:rPr lang="en-IN" sz="2000" b="1" i="0" u="none" dirty="0">
                  <a:solidFill>
                    <a:srgbClr val="2563EB"/>
                  </a:solidFill>
                  <a:latin typeface="Inter"/>
                </a:rPr>
                <a:t>:</a:t>
              </a:r>
              <a:r>
                <a:rPr sz="2000" b="0" i="0" u="none" dirty="0">
                  <a:solidFill>
                    <a:srgbClr val="475569"/>
                  </a:solidFill>
                  <a:latin typeface="Inter"/>
                </a:rPr>
                <a:t> </a:t>
              </a:r>
              <a:r>
                <a:rPr sz="2000" b="0" i="0" u="none" dirty="0" err="1">
                  <a:solidFill>
                    <a:srgbClr val="475569"/>
                  </a:solidFill>
                  <a:latin typeface="Inter"/>
                </a:rPr>
                <a:t>ArenaPulse</a:t>
              </a:r>
              <a:r>
                <a:rPr sz="2000" b="0" i="0" u="none" dirty="0">
                  <a:solidFill>
                    <a:srgbClr val="475569"/>
                  </a:solidFill>
                  <a:latin typeface="Inter"/>
                </a:rPr>
                <a:t> centralizes everything. It provides automated bracket generation, real-time score tracking, and team management all in one hub.</a:t>
              </a:r>
            </a:p>
          </p:txBody>
        </p:sp>
        <p:pic>
          <p:nvPicPr>
            <p:cNvPr id="15" name="Picture 14" descr="image.png">
              <a:extLst>
                <a:ext uri="{FF2B5EF4-FFF2-40B4-BE49-F238E27FC236}">
                  <a16:creationId xmlns:a16="http://schemas.microsoft.com/office/drawing/2014/main" id="{F287E2DB-4AC7-17DB-BAE4-483F6E4265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3961607"/>
              <a:ext cx="238125" cy="276225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2D6C815-6B10-926B-C4EC-0924B1DA0910}"/>
              </a:ext>
            </a:extLst>
          </p:cNvPr>
          <p:cNvGrpSpPr/>
          <p:nvPr/>
        </p:nvGrpSpPr>
        <p:grpSpPr>
          <a:xfrm>
            <a:off x="5857875" y="1604146"/>
            <a:ext cx="6120765" cy="4631930"/>
            <a:chOff x="5857875" y="1604146"/>
            <a:chExt cx="6120765" cy="4631930"/>
          </a:xfrm>
        </p:grpSpPr>
        <p:pic>
          <p:nvPicPr>
            <p:cNvPr id="17" name="Picture 16" descr="image.png">
              <a:extLst>
                <a:ext uri="{FF2B5EF4-FFF2-40B4-BE49-F238E27FC236}">
                  <a16:creationId xmlns:a16="http://schemas.microsoft.com/office/drawing/2014/main" id="{D631333D-F719-4DB3-4982-CD76C761B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57875" y="1604146"/>
              <a:ext cx="6120765" cy="463193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C85D553-BC3D-0B91-95C3-375E6C715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57875" y="1908401"/>
              <a:ext cx="6120765" cy="4106412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3C01639-64C1-241C-4E90-2205283C1F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70"/>
            <a:ext cx="631596" cy="6612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33E6D5-8A8C-84BC-7F27-2F1C118F54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5818" y="0"/>
            <a:ext cx="3217328" cy="61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31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08E2C25-A1EB-5F7E-29C1-BF1FC4744705}"/>
              </a:ext>
            </a:extLst>
          </p:cNvPr>
          <p:cNvGrpSpPr/>
          <p:nvPr/>
        </p:nvGrpSpPr>
        <p:grpSpPr>
          <a:xfrm>
            <a:off x="571500" y="869680"/>
            <a:ext cx="11590020" cy="548580"/>
            <a:chOff x="571500" y="571500"/>
            <a:chExt cx="11590020" cy="54858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E52EB54-A4CA-FF37-8BDD-1B41DBA51456}"/>
                </a:ext>
              </a:extLst>
            </p:cNvPr>
            <p:cNvSpPr txBox="1"/>
            <p:nvPr/>
          </p:nvSpPr>
          <p:spPr>
            <a:xfrm>
              <a:off x="800100" y="571500"/>
              <a:ext cx="11361420" cy="5485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sz="3600" i="0" u="none" dirty="0">
                  <a:solidFill>
                    <a:srgbClr val="0F172A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Built for Organizers &amp; Players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8267E52-81CD-B49B-E13C-2CEBA4127C0E}"/>
                </a:ext>
              </a:extLst>
            </p:cNvPr>
            <p:cNvSpPr/>
            <p:nvPr/>
          </p:nvSpPr>
          <p:spPr>
            <a:xfrm>
              <a:off x="571500" y="571500"/>
              <a:ext cx="76200" cy="54858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B645BC2-E18F-D701-57A5-8AD08086ED16}"/>
              </a:ext>
            </a:extLst>
          </p:cNvPr>
          <p:cNvGrpSpPr/>
          <p:nvPr/>
        </p:nvGrpSpPr>
        <p:grpSpPr>
          <a:xfrm>
            <a:off x="571500" y="1810355"/>
            <a:ext cx="5067300" cy="984629"/>
            <a:chOff x="571500" y="1560611"/>
            <a:chExt cx="5067300" cy="98462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8ED5D56-7C81-8B80-4573-B14D736F175C}"/>
                </a:ext>
              </a:extLst>
            </p:cNvPr>
            <p:cNvSpPr txBox="1"/>
            <p:nvPr/>
          </p:nvSpPr>
          <p:spPr>
            <a:xfrm>
              <a:off x="1095375" y="1560611"/>
              <a:ext cx="4543425" cy="9846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sz="2400" b="1" i="0" u="none" dirty="0">
                  <a:solidFill>
                    <a:srgbClr val="2563EB"/>
                  </a:solidFill>
                  <a:latin typeface="Inter"/>
                </a:rPr>
                <a:t>Automated Brackets</a:t>
              </a:r>
              <a:r>
                <a:rPr lang="en-IN" sz="2000" b="1" i="0" u="none" dirty="0">
                  <a:solidFill>
                    <a:srgbClr val="2563EB"/>
                  </a:solidFill>
                  <a:latin typeface="Inter"/>
                </a:rPr>
                <a:t>:</a:t>
              </a:r>
              <a:r>
                <a:rPr sz="2000" b="0" i="0" u="none" dirty="0">
                  <a:solidFill>
                    <a:srgbClr val="475569"/>
                  </a:solidFill>
                  <a:latin typeface="Inter"/>
                </a:rPr>
                <a:t> One-click generation of massive tournament trees without manual data entry.</a:t>
              </a:r>
            </a:p>
          </p:txBody>
        </p:sp>
        <p:pic>
          <p:nvPicPr>
            <p:cNvPr id="17" name="Picture 16" descr="image.png">
              <a:extLst>
                <a:ext uri="{FF2B5EF4-FFF2-40B4-BE49-F238E27FC236}">
                  <a16:creationId xmlns:a16="http://schemas.microsoft.com/office/drawing/2014/main" id="{8B3CBE36-64C9-D148-1F97-9749053A7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593949"/>
              <a:ext cx="304800" cy="276225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74A8445-F522-8FD3-DE96-BDBACDFD2F45}"/>
              </a:ext>
            </a:extLst>
          </p:cNvPr>
          <p:cNvGrpSpPr/>
          <p:nvPr/>
        </p:nvGrpSpPr>
        <p:grpSpPr>
          <a:xfrm>
            <a:off x="571500" y="3187079"/>
            <a:ext cx="5029200" cy="984629"/>
            <a:chOff x="571500" y="2989064"/>
            <a:chExt cx="5029200" cy="9846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B9FFD01-7886-4280-A443-7C7964CE873F}"/>
                </a:ext>
              </a:extLst>
            </p:cNvPr>
            <p:cNvSpPr txBox="1"/>
            <p:nvPr/>
          </p:nvSpPr>
          <p:spPr>
            <a:xfrm>
              <a:off x="1095375" y="2989064"/>
              <a:ext cx="4505325" cy="9846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sz="2400" b="1" i="0" u="none" dirty="0">
                  <a:solidFill>
                    <a:srgbClr val="2563EB"/>
                  </a:solidFill>
                  <a:latin typeface="Inter"/>
                </a:rPr>
                <a:t>Deep Player Analytics</a:t>
              </a:r>
              <a:r>
                <a:rPr lang="en-IN" sz="2000" b="1" i="0" u="none" dirty="0">
                  <a:solidFill>
                    <a:srgbClr val="2563EB"/>
                  </a:solidFill>
                  <a:latin typeface="Inter"/>
                </a:rPr>
                <a:t>:</a:t>
              </a:r>
              <a:r>
                <a:rPr sz="2000" b="0" i="0" u="none" dirty="0">
                  <a:solidFill>
                    <a:srgbClr val="475569"/>
                  </a:solidFill>
                  <a:latin typeface="Inter"/>
                </a:rPr>
                <a:t> Tracks K/D ratios, match history, and overall rank across different games automatically.</a:t>
              </a:r>
            </a:p>
          </p:txBody>
        </p:sp>
        <p:pic>
          <p:nvPicPr>
            <p:cNvPr id="19" name="Picture 18" descr="image.png">
              <a:extLst>
                <a:ext uri="{FF2B5EF4-FFF2-40B4-BE49-F238E27FC236}">
                  <a16:creationId xmlns:a16="http://schemas.microsoft.com/office/drawing/2014/main" id="{7DD9FCA8-2406-C9A9-DC79-A2EF8BFB7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3022401"/>
              <a:ext cx="266700" cy="276225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9DB72E-B89A-A8FC-131C-D3C4017E9513}"/>
              </a:ext>
            </a:extLst>
          </p:cNvPr>
          <p:cNvGrpSpPr/>
          <p:nvPr/>
        </p:nvGrpSpPr>
        <p:grpSpPr>
          <a:xfrm>
            <a:off x="571500" y="4805074"/>
            <a:ext cx="5029200" cy="984629"/>
            <a:chOff x="571500" y="4417516"/>
            <a:chExt cx="5029200" cy="98462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E4814E6-3B48-983E-9E52-9B55A75612C2}"/>
                </a:ext>
              </a:extLst>
            </p:cNvPr>
            <p:cNvSpPr txBox="1"/>
            <p:nvPr/>
          </p:nvSpPr>
          <p:spPr>
            <a:xfrm>
              <a:off x="1095375" y="4417516"/>
              <a:ext cx="4505325" cy="9846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sz="2400" b="1" i="0" u="none" dirty="0">
                  <a:solidFill>
                    <a:srgbClr val="2563EB"/>
                  </a:solidFill>
                  <a:latin typeface="Inter"/>
                </a:rPr>
                <a:t>Team Management</a:t>
              </a:r>
              <a:r>
                <a:rPr lang="en-IN" sz="2000" b="1" i="0" u="none" dirty="0">
                  <a:solidFill>
                    <a:srgbClr val="2563EB"/>
                  </a:solidFill>
                  <a:latin typeface="Inter"/>
                </a:rPr>
                <a:t>:</a:t>
              </a:r>
              <a:r>
                <a:rPr sz="2000" b="0" i="0" u="none" dirty="0">
                  <a:solidFill>
                    <a:srgbClr val="475569"/>
                  </a:solidFill>
                  <a:latin typeface="Inter"/>
                </a:rPr>
                <a:t> Create rosters, assign captains, and enroll teams seamlessly into upcoming events.</a:t>
              </a:r>
            </a:p>
          </p:txBody>
        </p:sp>
        <p:pic>
          <p:nvPicPr>
            <p:cNvPr id="21" name="Picture 20" descr="image.png">
              <a:extLst>
                <a:ext uri="{FF2B5EF4-FFF2-40B4-BE49-F238E27FC236}">
                  <a16:creationId xmlns:a16="http://schemas.microsoft.com/office/drawing/2014/main" id="{DE83DDA1-0CC1-2BB6-1956-CE4EF95335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500" y="4450853"/>
              <a:ext cx="333375" cy="276225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2CB3242-20FD-5C9D-D8F8-D02CA4AB40B4}"/>
              </a:ext>
            </a:extLst>
          </p:cNvPr>
          <p:cNvGrpSpPr/>
          <p:nvPr/>
        </p:nvGrpSpPr>
        <p:grpSpPr>
          <a:xfrm>
            <a:off x="5791200" y="1593949"/>
            <a:ext cx="6120765" cy="4631930"/>
            <a:chOff x="5857875" y="1342635"/>
            <a:chExt cx="6120765" cy="4631930"/>
          </a:xfrm>
        </p:grpSpPr>
        <p:pic>
          <p:nvPicPr>
            <p:cNvPr id="5" name="Picture 4" descr="image.png">
              <a:extLst>
                <a:ext uri="{FF2B5EF4-FFF2-40B4-BE49-F238E27FC236}">
                  <a16:creationId xmlns:a16="http://schemas.microsoft.com/office/drawing/2014/main" id="{462C2E33-8BC2-875F-16F9-8B0157C42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57875" y="1342635"/>
              <a:ext cx="6120765" cy="463193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E168947-E294-FDC5-BD99-C659C4838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57875" y="1560610"/>
              <a:ext cx="6120765" cy="4081897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60E9014D-A50B-84FA-62C1-EF8B0FFD96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5818" y="0"/>
            <a:ext cx="3217328" cy="61318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F7AEFF2-A6B4-2163-A750-BAF44EE4DC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70"/>
            <a:ext cx="631596" cy="66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585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4EC791F-DBAB-BEE8-98C2-9F1CE7BF0D08}"/>
              </a:ext>
            </a:extLst>
          </p:cNvPr>
          <p:cNvGrpSpPr/>
          <p:nvPr/>
        </p:nvGrpSpPr>
        <p:grpSpPr>
          <a:xfrm>
            <a:off x="571500" y="702776"/>
            <a:ext cx="6649432" cy="1097160"/>
            <a:chOff x="571500" y="571500"/>
            <a:chExt cx="6649432" cy="109716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A6A4B4B-CF7D-D49E-EBEF-D2D183FE7306}"/>
                </a:ext>
              </a:extLst>
            </p:cNvPr>
            <p:cNvSpPr txBox="1"/>
            <p:nvPr/>
          </p:nvSpPr>
          <p:spPr>
            <a:xfrm>
              <a:off x="800100" y="571500"/>
              <a:ext cx="6420832" cy="10971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sz="3600" u="none" dirty="0">
                  <a:solidFill>
                    <a:srgbClr val="0F172A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A Live, Interactive Experience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B651900-36C2-4E04-A373-33370B32E545}"/>
                </a:ext>
              </a:extLst>
            </p:cNvPr>
            <p:cNvSpPr/>
            <p:nvPr/>
          </p:nvSpPr>
          <p:spPr>
            <a:xfrm>
              <a:off x="571500" y="571500"/>
              <a:ext cx="76200" cy="109716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25A8325-7ABD-F39B-9463-16E16D6921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143625" y="725864"/>
            <a:ext cx="6048375" cy="613213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995AB91-4CCD-D4B4-0B73-5D2507C9AF5C}"/>
              </a:ext>
            </a:extLst>
          </p:cNvPr>
          <p:cNvGrpSpPr/>
          <p:nvPr/>
        </p:nvGrpSpPr>
        <p:grpSpPr>
          <a:xfrm>
            <a:off x="571500" y="2073184"/>
            <a:ext cx="5286375" cy="984629"/>
            <a:chOff x="571500" y="1834901"/>
            <a:chExt cx="5286375" cy="98462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D62D83-025F-6297-455A-14FAC059A178}"/>
                </a:ext>
              </a:extLst>
            </p:cNvPr>
            <p:cNvSpPr txBox="1"/>
            <p:nvPr/>
          </p:nvSpPr>
          <p:spPr>
            <a:xfrm>
              <a:off x="1095375" y="1834901"/>
              <a:ext cx="4762500" cy="9846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sz="2400" b="1" i="0" u="none" dirty="0">
                  <a:solidFill>
                    <a:srgbClr val="2563EB"/>
                  </a:solidFill>
                  <a:latin typeface="Inter"/>
                </a:rPr>
                <a:t>Live Viewer Counts</a:t>
              </a:r>
              <a:r>
                <a:rPr lang="en-IN" sz="2400" b="1" i="0" u="none" dirty="0">
                  <a:solidFill>
                    <a:srgbClr val="2563EB"/>
                  </a:solidFill>
                  <a:latin typeface="Inter"/>
                </a:rPr>
                <a:t>:</a:t>
              </a:r>
              <a:r>
                <a:rPr sz="2400" b="0" i="0" u="none" dirty="0">
                  <a:solidFill>
                    <a:srgbClr val="475569"/>
                  </a:solidFill>
                  <a:latin typeface="Inter"/>
                </a:rPr>
                <a:t> </a:t>
              </a:r>
              <a:r>
                <a:rPr sz="2000" b="0" i="0" u="none" dirty="0">
                  <a:solidFill>
                    <a:srgbClr val="475569"/>
                  </a:solidFill>
                  <a:latin typeface="Inter"/>
                </a:rPr>
                <a:t>See exactly how many fans are watching a match unfold in real-time.</a:t>
              </a:r>
            </a:p>
          </p:txBody>
        </p:sp>
        <p:pic>
          <p:nvPicPr>
            <p:cNvPr id="17" name="Picture 16" descr="image.png">
              <a:extLst>
                <a:ext uri="{FF2B5EF4-FFF2-40B4-BE49-F238E27FC236}">
                  <a16:creationId xmlns:a16="http://schemas.microsoft.com/office/drawing/2014/main" id="{1ABF8A37-C461-E603-1866-636E5B381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1868239"/>
              <a:ext cx="304800" cy="276225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D8B9FAA-7417-9A67-95AD-2F7B9DAD0815}"/>
              </a:ext>
            </a:extLst>
          </p:cNvPr>
          <p:cNvGrpSpPr/>
          <p:nvPr/>
        </p:nvGrpSpPr>
        <p:grpSpPr>
          <a:xfrm>
            <a:off x="571500" y="3429000"/>
            <a:ext cx="5286375" cy="984629"/>
            <a:chOff x="571500" y="3263354"/>
            <a:chExt cx="5286375" cy="9846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C7D954B-BF2C-8B54-770E-C133202A7E33}"/>
                </a:ext>
              </a:extLst>
            </p:cNvPr>
            <p:cNvSpPr txBox="1"/>
            <p:nvPr/>
          </p:nvSpPr>
          <p:spPr>
            <a:xfrm>
              <a:off x="1095375" y="3263354"/>
              <a:ext cx="4762500" cy="9846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sz="2400" b="1" i="0" u="none" dirty="0">
                  <a:solidFill>
                    <a:srgbClr val="2563EB"/>
                  </a:solidFill>
                  <a:latin typeface="Inter"/>
                </a:rPr>
                <a:t>Instant Score Updates</a:t>
              </a:r>
              <a:r>
                <a:rPr lang="en-IN" sz="2400" b="1" i="0" u="none" dirty="0">
                  <a:solidFill>
                    <a:srgbClr val="2563EB"/>
                  </a:solidFill>
                  <a:latin typeface="Inter"/>
                </a:rPr>
                <a:t>:</a:t>
              </a:r>
              <a:r>
                <a:rPr sz="2000" b="0" i="0" u="none" dirty="0">
                  <a:solidFill>
                    <a:srgbClr val="475569"/>
                  </a:solidFill>
                  <a:latin typeface="Inter"/>
                </a:rPr>
                <a:t> Brackets update across all connected devices instantly via </a:t>
              </a:r>
              <a:r>
                <a:rPr sz="2000" b="0" i="0" u="none" dirty="0" err="1">
                  <a:solidFill>
                    <a:srgbClr val="475569"/>
                  </a:solidFill>
                  <a:latin typeface="Inter"/>
                </a:rPr>
                <a:t>WebSockets</a:t>
              </a:r>
              <a:r>
                <a:rPr sz="2000" b="0" i="0" u="none" dirty="0">
                  <a:solidFill>
                    <a:srgbClr val="475569"/>
                  </a:solidFill>
                  <a:latin typeface="Inter"/>
                </a:rPr>
                <a:t> without refreshing.</a:t>
              </a:r>
            </a:p>
          </p:txBody>
        </p:sp>
        <p:pic>
          <p:nvPicPr>
            <p:cNvPr id="19" name="Picture 18" descr="image.png">
              <a:extLst>
                <a:ext uri="{FF2B5EF4-FFF2-40B4-BE49-F238E27FC236}">
                  <a16:creationId xmlns:a16="http://schemas.microsoft.com/office/drawing/2014/main" id="{21539D03-CD87-46E1-43B1-876C44CF9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500" y="3296691"/>
              <a:ext cx="238125" cy="276225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8F59D-BE7F-0C71-8503-CCE37A363885}"/>
              </a:ext>
            </a:extLst>
          </p:cNvPr>
          <p:cNvGrpSpPr/>
          <p:nvPr/>
        </p:nvGrpSpPr>
        <p:grpSpPr>
          <a:xfrm>
            <a:off x="571500" y="5026802"/>
            <a:ext cx="5286375" cy="978217"/>
            <a:chOff x="571500" y="4725144"/>
            <a:chExt cx="5286375" cy="97821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F52071E-13BE-7D9E-637C-87306EE1C69A}"/>
                </a:ext>
              </a:extLst>
            </p:cNvPr>
            <p:cNvSpPr txBox="1"/>
            <p:nvPr/>
          </p:nvSpPr>
          <p:spPr>
            <a:xfrm>
              <a:off x="1095375" y="4725144"/>
              <a:ext cx="4762500" cy="97821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sz="2400" b="1" i="0" u="none" dirty="0">
                  <a:solidFill>
                    <a:srgbClr val="2563EB"/>
                  </a:solidFill>
                  <a:latin typeface="Inter"/>
                </a:rPr>
                <a:t>Tournament Lobbies</a:t>
              </a:r>
              <a:r>
                <a:rPr lang="en-US" sz="2400" b="1" i="0" u="none" dirty="0">
                  <a:solidFill>
                    <a:srgbClr val="2563EB"/>
                  </a:solidFill>
                  <a:latin typeface="Inter"/>
                </a:rPr>
                <a:t>:</a:t>
              </a:r>
              <a:r>
                <a:rPr sz="1650" b="0" i="0" u="none" dirty="0">
                  <a:solidFill>
                    <a:srgbClr val="475569"/>
                  </a:solidFill>
                  <a:latin typeface="Inter"/>
                </a:rPr>
                <a:t> </a:t>
              </a:r>
              <a:r>
                <a:rPr sz="2000" b="0" i="0" u="none" dirty="0">
                  <a:solidFill>
                    <a:srgbClr val="475569"/>
                  </a:solidFill>
                  <a:latin typeface="Inter"/>
                </a:rPr>
                <a:t>Real-time chat rooms for players and organizers to coordinate effectively.</a:t>
              </a:r>
              <a:endParaRPr sz="1650" b="0" i="0" u="none" dirty="0">
                <a:solidFill>
                  <a:srgbClr val="475569"/>
                </a:solidFill>
                <a:latin typeface="Inter"/>
              </a:endParaRPr>
            </a:p>
          </p:txBody>
        </p:sp>
        <p:pic>
          <p:nvPicPr>
            <p:cNvPr id="21" name="Picture 20" descr="image.png">
              <a:extLst>
                <a:ext uri="{FF2B5EF4-FFF2-40B4-BE49-F238E27FC236}">
                  <a16:creationId xmlns:a16="http://schemas.microsoft.com/office/drawing/2014/main" id="{E8E667DB-C05E-7AB2-B4D1-344C79E30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1500" y="4725144"/>
              <a:ext cx="333375" cy="276225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9FB8F09-3888-E3DC-DA54-5F9372D6FD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70"/>
            <a:ext cx="631596" cy="6612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2A42F07-A312-6EC7-DEB9-A7F35CAB70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5818" y="0"/>
            <a:ext cx="3217328" cy="61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63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C6C37F4-D9C7-218C-BD47-6B553EECDCA5}"/>
              </a:ext>
            </a:extLst>
          </p:cNvPr>
          <p:cNvGrpSpPr/>
          <p:nvPr/>
        </p:nvGrpSpPr>
        <p:grpSpPr>
          <a:xfrm>
            <a:off x="571500" y="865680"/>
            <a:ext cx="11590020" cy="548580"/>
            <a:chOff x="571500" y="571500"/>
            <a:chExt cx="11590020" cy="54858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E884F43-B07C-1478-9351-7DC97515231D}"/>
                </a:ext>
              </a:extLst>
            </p:cNvPr>
            <p:cNvSpPr txBox="1"/>
            <p:nvPr/>
          </p:nvSpPr>
          <p:spPr>
            <a:xfrm>
              <a:off x="800100" y="571500"/>
              <a:ext cx="11361420" cy="5485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sz="3600" i="0" u="none" dirty="0">
                  <a:solidFill>
                    <a:srgbClr val="0F172A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Powered by Artificial Intelligence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89E2D39-EB43-8581-CF77-2BFCECAC1E6B}"/>
                </a:ext>
              </a:extLst>
            </p:cNvPr>
            <p:cNvSpPr/>
            <p:nvPr/>
          </p:nvSpPr>
          <p:spPr>
            <a:xfrm>
              <a:off x="571500" y="571500"/>
              <a:ext cx="76200" cy="54858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DAC58E1-6336-EDD1-1180-343832EEF3A3}"/>
              </a:ext>
            </a:extLst>
          </p:cNvPr>
          <p:cNvGrpSpPr/>
          <p:nvPr/>
        </p:nvGrpSpPr>
        <p:grpSpPr>
          <a:xfrm>
            <a:off x="571500" y="1657728"/>
            <a:ext cx="5073015" cy="984629"/>
            <a:chOff x="571500" y="1560611"/>
            <a:chExt cx="5073015" cy="98462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710601-FC6B-524F-4804-4791925084B8}"/>
                </a:ext>
              </a:extLst>
            </p:cNvPr>
            <p:cNvSpPr txBox="1"/>
            <p:nvPr/>
          </p:nvSpPr>
          <p:spPr>
            <a:xfrm>
              <a:off x="1095375" y="1560611"/>
              <a:ext cx="4549140" cy="9846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sz="2400" b="1" i="0" u="none" dirty="0">
                  <a:solidFill>
                    <a:srgbClr val="2563EB"/>
                  </a:solidFill>
                  <a:latin typeface="Inter"/>
                </a:rPr>
                <a:t>Predictive Match Analytics</a:t>
              </a:r>
              <a:r>
                <a:rPr lang="en-IN" sz="2000" b="1" i="0" u="none" dirty="0">
                  <a:solidFill>
                    <a:srgbClr val="2563EB"/>
                  </a:solidFill>
                  <a:latin typeface="Inter"/>
                </a:rPr>
                <a:t>:</a:t>
              </a:r>
              <a:r>
                <a:rPr sz="2000" b="0" i="0" u="none" dirty="0">
                  <a:solidFill>
                    <a:srgbClr val="475569"/>
                  </a:solidFill>
                  <a:latin typeface="Inter"/>
                </a:rPr>
                <a:t> A custom ML model analyzes historical team stats to predict match win probabilities.</a:t>
              </a:r>
            </a:p>
          </p:txBody>
        </p:sp>
        <p:pic>
          <p:nvPicPr>
            <p:cNvPr id="15" name="Picture 14" descr="image.png">
              <a:extLst>
                <a:ext uri="{FF2B5EF4-FFF2-40B4-BE49-F238E27FC236}">
                  <a16:creationId xmlns:a16="http://schemas.microsoft.com/office/drawing/2014/main" id="{1DCC6357-B6C7-558D-D87E-E2D51F00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593949"/>
              <a:ext cx="266700" cy="276225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7802CCB-A9FC-B90E-DB40-2FEE58DC7A33}"/>
              </a:ext>
            </a:extLst>
          </p:cNvPr>
          <p:cNvGrpSpPr/>
          <p:nvPr/>
        </p:nvGrpSpPr>
        <p:grpSpPr>
          <a:xfrm>
            <a:off x="571500" y="3231015"/>
            <a:ext cx="5000625" cy="984629"/>
            <a:chOff x="571500" y="2989064"/>
            <a:chExt cx="5000625" cy="98462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5F6FAE9-5E55-2AD5-2F63-CB02E0D0EA9D}"/>
                </a:ext>
              </a:extLst>
            </p:cNvPr>
            <p:cNvSpPr txBox="1"/>
            <p:nvPr/>
          </p:nvSpPr>
          <p:spPr>
            <a:xfrm>
              <a:off x="1095375" y="2989064"/>
              <a:ext cx="4476750" cy="9846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sz="2400" b="1" i="0" u="none" dirty="0">
                  <a:solidFill>
                    <a:srgbClr val="2563EB"/>
                  </a:solidFill>
                  <a:latin typeface="Inter"/>
                </a:rPr>
                <a:t>Automated Match Summaries</a:t>
              </a:r>
              <a:r>
                <a:rPr lang="en-IN" sz="2000" b="1" i="0" u="none" dirty="0">
                  <a:solidFill>
                    <a:srgbClr val="2563EB"/>
                  </a:solidFill>
                  <a:latin typeface="Inter"/>
                </a:rPr>
                <a:t>:</a:t>
              </a:r>
              <a:r>
                <a:rPr sz="2000" b="0" i="0" u="none" dirty="0">
                  <a:solidFill>
                    <a:srgbClr val="475569"/>
                  </a:solidFill>
                  <a:latin typeface="Inter"/>
                </a:rPr>
                <a:t> Generates readable, human-like recaps of completed matches instantly.</a:t>
              </a:r>
            </a:p>
          </p:txBody>
        </p:sp>
        <p:pic>
          <p:nvPicPr>
            <p:cNvPr id="17" name="Picture 16" descr="image.png">
              <a:extLst>
                <a:ext uri="{FF2B5EF4-FFF2-40B4-BE49-F238E27FC236}">
                  <a16:creationId xmlns:a16="http://schemas.microsoft.com/office/drawing/2014/main" id="{EC4579C3-4A53-2464-6C0F-A266EFD50F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3022401"/>
              <a:ext cx="238125" cy="276225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7FBBCC2-85C8-FE21-2E73-EC54D3FB623F}"/>
              </a:ext>
            </a:extLst>
          </p:cNvPr>
          <p:cNvGrpSpPr/>
          <p:nvPr/>
        </p:nvGrpSpPr>
        <p:grpSpPr>
          <a:xfrm>
            <a:off x="571500" y="4890710"/>
            <a:ext cx="5000625" cy="984629"/>
            <a:chOff x="571500" y="4417516"/>
            <a:chExt cx="5000625" cy="9846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3D81005-88BE-B9C2-A418-33103E492A3B}"/>
                </a:ext>
              </a:extLst>
            </p:cNvPr>
            <p:cNvSpPr txBox="1"/>
            <p:nvPr/>
          </p:nvSpPr>
          <p:spPr>
            <a:xfrm>
              <a:off x="1095375" y="4417516"/>
              <a:ext cx="4476750" cy="9846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sz="2400" b="1" i="0" u="none" dirty="0">
                  <a:solidFill>
                    <a:srgbClr val="2563EB"/>
                  </a:solidFill>
                  <a:latin typeface="Inter"/>
                </a:rPr>
                <a:t>AI Toxicity Filter</a:t>
              </a:r>
              <a:r>
                <a:rPr lang="en-IN" sz="2000" b="1" i="0" u="none" dirty="0">
                  <a:solidFill>
                    <a:srgbClr val="2563EB"/>
                  </a:solidFill>
                  <a:latin typeface="Inter"/>
                </a:rPr>
                <a:t>:</a:t>
              </a:r>
              <a:r>
                <a:rPr sz="2000" b="0" i="0" u="none" dirty="0">
                  <a:solidFill>
                    <a:srgbClr val="475569"/>
                  </a:solidFill>
                  <a:latin typeface="Inter"/>
                </a:rPr>
                <a:t> Instantly intercepts and blocks toxic or abusive messages in live chat to protect the community.</a:t>
              </a:r>
            </a:p>
          </p:txBody>
        </p:sp>
        <p:pic>
          <p:nvPicPr>
            <p:cNvPr id="19" name="Picture 18" descr="image.png">
              <a:extLst>
                <a:ext uri="{FF2B5EF4-FFF2-40B4-BE49-F238E27FC236}">
                  <a16:creationId xmlns:a16="http://schemas.microsoft.com/office/drawing/2014/main" id="{2C0CD0E4-219C-C619-653C-D612B5BF6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500" y="4450853"/>
              <a:ext cx="266700" cy="276225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553A652-C3BA-9256-4D24-D31C61015094}"/>
              </a:ext>
            </a:extLst>
          </p:cNvPr>
          <p:cNvGrpSpPr/>
          <p:nvPr/>
        </p:nvGrpSpPr>
        <p:grpSpPr>
          <a:xfrm>
            <a:off x="5857875" y="1657728"/>
            <a:ext cx="6120765" cy="4631930"/>
            <a:chOff x="5857875" y="1244450"/>
            <a:chExt cx="6120765" cy="4631930"/>
          </a:xfrm>
        </p:grpSpPr>
        <p:pic>
          <p:nvPicPr>
            <p:cNvPr id="21" name="Picture 20" descr="image.png">
              <a:extLst>
                <a:ext uri="{FF2B5EF4-FFF2-40B4-BE49-F238E27FC236}">
                  <a16:creationId xmlns:a16="http://schemas.microsoft.com/office/drawing/2014/main" id="{4140A386-5465-09D6-F694-06C79EE2E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57875" y="1244450"/>
              <a:ext cx="6120765" cy="463193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CEEDFCC-7720-AC60-C060-8A717C935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57875" y="1498951"/>
              <a:ext cx="6120764" cy="4106411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6BDE9E34-45FD-02FF-4E37-BAFCF996D4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70"/>
            <a:ext cx="631596" cy="6612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B653B2-EA11-E885-66F3-C296BE66F6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5818" y="0"/>
            <a:ext cx="3217328" cy="61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02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086F161E-B419-A727-3FAC-0F38BB58F897}"/>
              </a:ext>
            </a:extLst>
          </p:cNvPr>
          <p:cNvGrpSpPr/>
          <p:nvPr/>
        </p:nvGrpSpPr>
        <p:grpSpPr>
          <a:xfrm>
            <a:off x="571500" y="863728"/>
            <a:ext cx="11590020" cy="548580"/>
            <a:chOff x="571500" y="571500"/>
            <a:chExt cx="11590020" cy="54858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2387E94-2493-15E8-DABB-CBC7CEE94AA7}"/>
                </a:ext>
              </a:extLst>
            </p:cNvPr>
            <p:cNvSpPr txBox="1"/>
            <p:nvPr/>
          </p:nvSpPr>
          <p:spPr>
            <a:xfrm>
              <a:off x="800100" y="571500"/>
              <a:ext cx="11361420" cy="5485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sz="3600" i="0" u="none" dirty="0">
                  <a:solidFill>
                    <a:srgbClr val="0F172A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Modern Microservice Architecture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B899C9F-762C-DD85-0FED-C934CBD00AEC}"/>
                </a:ext>
              </a:extLst>
            </p:cNvPr>
            <p:cNvSpPr/>
            <p:nvPr/>
          </p:nvSpPr>
          <p:spPr>
            <a:xfrm>
              <a:off x="571500" y="571500"/>
              <a:ext cx="76200" cy="54858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403EA0-51F0-EBC5-E3CC-B35C39853082}"/>
              </a:ext>
            </a:extLst>
          </p:cNvPr>
          <p:cNvGrpSpPr/>
          <p:nvPr/>
        </p:nvGrpSpPr>
        <p:grpSpPr>
          <a:xfrm>
            <a:off x="647700" y="2047666"/>
            <a:ext cx="5066347" cy="3957208"/>
            <a:chOff x="676275" y="1120081"/>
            <a:chExt cx="5066347" cy="4502923"/>
          </a:xfrm>
        </p:grpSpPr>
        <p:pic>
          <p:nvPicPr>
            <p:cNvPr id="5" name="Picture 4" descr="image.png">
              <a:extLst>
                <a:ext uri="{FF2B5EF4-FFF2-40B4-BE49-F238E27FC236}">
                  <a16:creationId xmlns:a16="http://schemas.microsoft.com/office/drawing/2014/main" id="{3C7607C6-4313-3C90-DDE0-968B4F141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275" y="1120081"/>
              <a:ext cx="4930808" cy="4502923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9C0A79B-927A-7A79-5D1C-B4C9EC50C4E2}"/>
                </a:ext>
              </a:extLst>
            </p:cNvPr>
            <p:cNvSpPr txBox="1"/>
            <p:nvPr/>
          </p:nvSpPr>
          <p:spPr>
            <a:xfrm>
              <a:off x="962025" y="1510605"/>
              <a:ext cx="4780597" cy="49244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800" b="0" i="0" u="none" dirty="0">
                  <a:solidFill>
                    <a:srgbClr val="2563EB"/>
                  </a:solidFill>
                  <a:latin typeface="Poppins SemiBold"/>
                </a:rPr>
                <a:t>Core Operations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D156C85-80FD-6433-F9A6-F2FEFF0992EB}"/>
                </a:ext>
              </a:extLst>
            </p:cNvPr>
            <p:cNvGrpSpPr/>
            <p:nvPr/>
          </p:nvGrpSpPr>
          <p:grpSpPr>
            <a:xfrm>
              <a:off x="962025" y="2348805"/>
              <a:ext cx="4552950" cy="1113117"/>
              <a:chOff x="962025" y="2348805"/>
              <a:chExt cx="4552950" cy="1113117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10837D6-9967-926E-9B34-052D0DB6343E}"/>
                  </a:ext>
                </a:extLst>
              </p:cNvPr>
              <p:cNvSpPr txBox="1"/>
              <p:nvPr/>
            </p:nvSpPr>
            <p:spPr>
              <a:xfrm>
                <a:off x="1485900" y="2348805"/>
                <a:ext cx="4029075" cy="111311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640"/>
                  </a:lnSpc>
                </a:pPr>
                <a:r>
                  <a:rPr sz="2400" b="1" i="0" u="none" dirty="0">
                    <a:solidFill>
                      <a:srgbClr val="2563EB"/>
                    </a:solidFill>
                    <a:latin typeface="Inter"/>
                  </a:rPr>
                  <a:t>Frontend UI</a:t>
                </a:r>
                <a:r>
                  <a:rPr lang="en-IN" sz="2400" b="1" i="0" u="none" dirty="0">
                    <a:solidFill>
                      <a:srgbClr val="2563EB"/>
                    </a:solidFill>
                    <a:latin typeface="Inter"/>
                  </a:rPr>
                  <a:t>:</a:t>
                </a:r>
                <a:r>
                  <a:rPr sz="2000" b="0" i="0" u="none" dirty="0">
                    <a:solidFill>
                      <a:srgbClr val="475569"/>
                    </a:solidFill>
                    <a:latin typeface="Inter"/>
                  </a:rPr>
                  <a:t> React.js, Vite, and Tailwind CSS for a dynamic, lightning-fast experience.</a:t>
                </a:r>
              </a:p>
            </p:txBody>
          </p:sp>
          <p:pic>
            <p:nvPicPr>
              <p:cNvPr id="25" name="Picture 24" descr="image.png">
                <a:extLst>
                  <a:ext uri="{FF2B5EF4-FFF2-40B4-BE49-F238E27FC236}">
                    <a16:creationId xmlns:a16="http://schemas.microsoft.com/office/drawing/2014/main" id="{E44D5F1E-7F69-CE57-D347-CBFE3340A1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2025" y="2382142"/>
                <a:ext cx="266700" cy="276225"/>
              </a:xfrm>
              <a:prstGeom prst="rect">
                <a:avLst/>
              </a:prstGeom>
            </p:spPr>
          </p:pic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CC30759-19F5-6424-311D-0F049E01C19B}"/>
                </a:ext>
              </a:extLst>
            </p:cNvPr>
            <p:cNvGrpSpPr/>
            <p:nvPr/>
          </p:nvGrpSpPr>
          <p:grpSpPr>
            <a:xfrm>
              <a:off x="962025" y="3777257"/>
              <a:ext cx="4552950" cy="1492521"/>
              <a:chOff x="962025" y="3777257"/>
              <a:chExt cx="4552950" cy="1492521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D44E75-5657-6A30-5F1D-25DCDA526FCB}"/>
                  </a:ext>
                </a:extLst>
              </p:cNvPr>
              <p:cNvSpPr txBox="1"/>
              <p:nvPr/>
            </p:nvSpPr>
            <p:spPr>
              <a:xfrm>
                <a:off x="1485900" y="3777257"/>
                <a:ext cx="4029075" cy="149252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640"/>
                  </a:lnSpc>
                </a:pPr>
                <a:r>
                  <a:rPr sz="2400" b="1" i="0" u="none" dirty="0">
                    <a:solidFill>
                      <a:srgbClr val="2563EB"/>
                    </a:solidFill>
                    <a:latin typeface="Inter"/>
                  </a:rPr>
                  <a:t>Main Backend</a:t>
                </a:r>
                <a:r>
                  <a:rPr lang="en-IN" sz="2400" b="1" i="0" u="none" dirty="0">
                    <a:solidFill>
                      <a:srgbClr val="2563EB"/>
                    </a:solidFill>
                    <a:latin typeface="Inter"/>
                  </a:rPr>
                  <a:t>:</a:t>
                </a:r>
                <a:r>
                  <a:rPr sz="2000" b="0" i="0" u="none" dirty="0">
                    <a:solidFill>
                      <a:srgbClr val="475569"/>
                    </a:solidFill>
                    <a:latin typeface="Inter"/>
                  </a:rPr>
                  <a:t> Node.js, Express, and MongoDB powering the core logic and database routing.</a:t>
                </a:r>
              </a:p>
            </p:txBody>
          </p:sp>
          <p:pic>
            <p:nvPicPr>
              <p:cNvPr id="27" name="Picture 26" descr="image.png">
                <a:extLst>
                  <a:ext uri="{FF2B5EF4-FFF2-40B4-BE49-F238E27FC236}">
                    <a16:creationId xmlns:a16="http://schemas.microsoft.com/office/drawing/2014/main" id="{19F5D70D-A1B1-B5DB-CB6F-A02C906D9A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2025" y="3810595"/>
                <a:ext cx="238125" cy="276225"/>
              </a:xfrm>
              <a:prstGeom prst="rect">
                <a:avLst/>
              </a:prstGeom>
            </p:spPr>
          </p:pic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F14D9BF-C797-4D74-C400-5095F4DE1EA5}"/>
              </a:ext>
            </a:extLst>
          </p:cNvPr>
          <p:cNvGrpSpPr/>
          <p:nvPr/>
        </p:nvGrpSpPr>
        <p:grpSpPr>
          <a:xfrm>
            <a:off x="6477955" y="2047666"/>
            <a:ext cx="4986878" cy="3957208"/>
            <a:chOff x="6477955" y="1698874"/>
            <a:chExt cx="4986878" cy="3957208"/>
          </a:xfrm>
        </p:grpSpPr>
        <p:pic>
          <p:nvPicPr>
            <p:cNvPr id="7" name="Picture 6" descr="image.png">
              <a:extLst>
                <a:ext uri="{FF2B5EF4-FFF2-40B4-BE49-F238E27FC236}">
                  <a16:creationId xmlns:a16="http://schemas.microsoft.com/office/drawing/2014/main" id="{C51156E5-434D-ED4E-B8CC-C2FC2BC15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77955" y="1698874"/>
              <a:ext cx="4943475" cy="395720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7F80FAA-D5ED-9E4C-0284-8D2ED88C321D}"/>
                </a:ext>
              </a:extLst>
            </p:cNvPr>
            <p:cNvSpPr txBox="1"/>
            <p:nvPr/>
          </p:nvSpPr>
          <p:spPr>
            <a:xfrm>
              <a:off x="6684236" y="2089398"/>
              <a:ext cx="4780597" cy="43088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800" b="0" i="0" u="none" dirty="0">
                  <a:solidFill>
                    <a:srgbClr val="2563EB"/>
                  </a:solidFill>
                  <a:latin typeface="Poppins SemiBold"/>
                </a:rPr>
                <a:t>Real-Time &amp; Analytics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408318D-75C6-A89C-9729-FF491DA23A98}"/>
                </a:ext>
              </a:extLst>
            </p:cNvPr>
            <p:cNvGrpSpPr/>
            <p:nvPr/>
          </p:nvGrpSpPr>
          <p:grpSpPr>
            <a:xfrm>
              <a:off x="6674781" y="2807320"/>
              <a:ext cx="4746649" cy="978217"/>
              <a:chOff x="6677025" y="2382142"/>
              <a:chExt cx="4746649" cy="978217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72D2122-CE09-9650-9327-4C2281CD157C}"/>
                  </a:ext>
                </a:extLst>
              </p:cNvPr>
              <p:cNvSpPr txBox="1"/>
              <p:nvPr/>
            </p:nvSpPr>
            <p:spPr>
              <a:xfrm>
                <a:off x="7197772" y="2382142"/>
                <a:ext cx="4225902" cy="97821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640"/>
                  </a:lnSpc>
                </a:pPr>
                <a:r>
                  <a:rPr sz="2400" b="1" i="0" u="none" dirty="0">
                    <a:solidFill>
                      <a:srgbClr val="2563EB"/>
                    </a:solidFill>
                    <a:latin typeface="Inter"/>
                  </a:rPr>
                  <a:t>Real-Time Data</a:t>
                </a:r>
                <a:r>
                  <a:rPr lang="en-IN" sz="2400" b="1" i="0" u="none" dirty="0">
                    <a:solidFill>
                      <a:srgbClr val="2563EB"/>
                    </a:solidFill>
                    <a:latin typeface="Inter"/>
                  </a:rPr>
                  <a:t>:</a:t>
                </a:r>
                <a:r>
                  <a:rPr sz="2000" b="0" i="0" u="none" dirty="0">
                    <a:solidFill>
                      <a:srgbClr val="475569"/>
                    </a:solidFill>
                    <a:latin typeface="Inter"/>
                  </a:rPr>
                  <a:t> Socket.io for managing </a:t>
                </a:r>
                <a:r>
                  <a:rPr sz="2000" b="0" i="0" u="none" dirty="0" err="1">
                    <a:solidFill>
                      <a:srgbClr val="475569"/>
                    </a:solidFill>
                    <a:latin typeface="Inter"/>
                  </a:rPr>
                  <a:t>websocket</a:t>
                </a:r>
                <a:r>
                  <a:rPr lang="en-US" sz="2000" dirty="0">
                    <a:solidFill>
                      <a:srgbClr val="475569"/>
                    </a:solidFill>
                    <a:latin typeface="Inter"/>
                  </a:rPr>
                  <a:t> </a:t>
                </a:r>
                <a:r>
                  <a:rPr sz="2000" b="0" i="0" u="none" dirty="0">
                    <a:solidFill>
                      <a:srgbClr val="475569"/>
                    </a:solidFill>
                    <a:latin typeface="Inter"/>
                  </a:rPr>
                  <a:t>connections</a:t>
                </a:r>
                <a:endParaRPr lang="en-US" sz="2000" b="0" i="0" u="none" dirty="0">
                  <a:solidFill>
                    <a:srgbClr val="475569"/>
                  </a:solidFill>
                  <a:latin typeface="Inter"/>
                </a:endParaRPr>
              </a:p>
              <a:p>
                <a:pPr algn="l">
                  <a:lnSpc>
                    <a:spcPts val="2640"/>
                  </a:lnSpc>
                </a:pPr>
                <a:r>
                  <a:rPr lang="en-US" sz="2000" b="0" i="0" u="none" dirty="0">
                    <a:solidFill>
                      <a:srgbClr val="475569"/>
                    </a:solidFill>
                    <a:latin typeface="Inter"/>
                  </a:rPr>
                  <a:t>and live viewer scaling.</a:t>
                </a:r>
              </a:p>
            </p:txBody>
          </p:sp>
          <p:pic>
            <p:nvPicPr>
              <p:cNvPr id="29" name="Picture 28" descr="image.png">
                <a:extLst>
                  <a:ext uri="{FF2B5EF4-FFF2-40B4-BE49-F238E27FC236}">
                    <a16:creationId xmlns:a16="http://schemas.microsoft.com/office/drawing/2014/main" id="{9451E707-8D35-6093-1082-1966ABC4DD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77025" y="2382142"/>
                <a:ext cx="333375" cy="276225"/>
              </a:xfrm>
              <a:prstGeom prst="rect">
                <a:avLst/>
              </a:prstGeom>
            </p:spPr>
          </p:pic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DBEE8A6-840B-CF1B-456F-8C63E4E46E21}"/>
                </a:ext>
              </a:extLst>
            </p:cNvPr>
            <p:cNvGrpSpPr/>
            <p:nvPr/>
          </p:nvGrpSpPr>
          <p:grpSpPr>
            <a:xfrm>
              <a:off x="6684236" y="4063321"/>
              <a:ext cx="4552950" cy="978217"/>
              <a:chOff x="6677025" y="3777257"/>
              <a:chExt cx="4552950" cy="978217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3A50058-5A83-1ECE-3BDF-C7C57C692799}"/>
                  </a:ext>
                </a:extLst>
              </p:cNvPr>
              <p:cNvSpPr txBox="1"/>
              <p:nvPr/>
            </p:nvSpPr>
            <p:spPr>
              <a:xfrm>
                <a:off x="7200900" y="3777257"/>
                <a:ext cx="4029075" cy="97821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640"/>
                  </a:lnSpc>
                </a:pPr>
                <a:r>
                  <a:rPr sz="2400" b="1" i="0" u="none" dirty="0">
                    <a:solidFill>
                      <a:srgbClr val="2563EB"/>
                    </a:solidFill>
                    <a:latin typeface="Inter"/>
                  </a:rPr>
                  <a:t>AI Microservice</a:t>
                </a:r>
                <a:r>
                  <a:rPr lang="en-IN" sz="2400" b="1" i="0" u="none" dirty="0">
                    <a:solidFill>
                      <a:srgbClr val="2563EB"/>
                    </a:solidFill>
                    <a:latin typeface="Inter"/>
                  </a:rPr>
                  <a:t>:</a:t>
                </a:r>
                <a:r>
                  <a:rPr sz="2000" b="0" i="0" u="none" dirty="0">
                    <a:solidFill>
                      <a:srgbClr val="475569"/>
                    </a:solidFill>
                    <a:latin typeface="Inter"/>
                  </a:rPr>
                  <a:t> Django, Pandas, and Scikit-Learn handling machine learning tasks.</a:t>
                </a:r>
              </a:p>
            </p:txBody>
          </p:sp>
          <p:pic>
            <p:nvPicPr>
              <p:cNvPr id="31" name="Picture 30" descr="image.png">
                <a:extLst>
                  <a:ext uri="{FF2B5EF4-FFF2-40B4-BE49-F238E27FC236}">
                    <a16:creationId xmlns:a16="http://schemas.microsoft.com/office/drawing/2014/main" id="{E8643A9C-9BBC-5895-7743-DF341E7AB5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77025" y="3810595"/>
                <a:ext cx="238125" cy="276225"/>
              </a:xfrm>
              <a:prstGeom prst="rect">
                <a:avLst/>
              </a:prstGeom>
            </p:spPr>
          </p:pic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35E54F7-9A78-80E7-F914-31826B1EFD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5818" y="0"/>
            <a:ext cx="3217328" cy="6131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169736-A904-EDC5-8186-E09B403E73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70"/>
            <a:ext cx="631596" cy="66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53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96CC3B9F-9751-4FF7-B091-7D2CFB5906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5249" y="0"/>
            <a:ext cx="9117772" cy="685093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4CF3125-1FE7-C017-2FCD-C3CC7845648D}"/>
              </a:ext>
            </a:extLst>
          </p:cNvPr>
          <p:cNvGrpSpPr/>
          <p:nvPr/>
        </p:nvGrpSpPr>
        <p:grpSpPr>
          <a:xfrm>
            <a:off x="571500" y="866427"/>
            <a:ext cx="7529512" cy="548580"/>
            <a:chOff x="571500" y="1347192"/>
            <a:chExt cx="7529512" cy="54858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34714D-593F-2634-1246-1B4B32E412B9}"/>
                </a:ext>
              </a:extLst>
            </p:cNvPr>
            <p:cNvSpPr txBox="1"/>
            <p:nvPr/>
          </p:nvSpPr>
          <p:spPr>
            <a:xfrm>
              <a:off x="800100" y="1347192"/>
              <a:ext cx="7300912" cy="5485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sz="3600" i="0" u="none" dirty="0">
                  <a:solidFill>
                    <a:srgbClr val="0F172A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What's Next for </a:t>
              </a:r>
              <a:r>
                <a:rPr sz="3600" i="0" u="none" dirty="0" err="1">
                  <a:solidFill>
                    <a:srgbClr val="0F172A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ArenaPulse</a:t>
              </a:r>
              <a:r>
                <a:rPr sz="3600" i="0" u="none" dirty="0">
                  <a:solidFill>
                    <a:srgbClr val="0F172A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?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A601D4F-F8CD-CE45-E0D9-9C09DDF52C1B}"/>
                </a:ext>
              </a:extLst>
            </p:cNvPr>
            <p:cNvSpPr/>
            <p:nvPr/>
          </p:nvSpPr>
          <p:spPr>
            <a:xfrm>
              <a:off x="571500" y="1347192"/>
              <a:ext cx="76200" cy="54858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58EBFE5-51E7-856C-A006-5F7491672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5818" y="0"/>
            <a:ext cx="3217328" cy="61318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D79555A5-3622-3BC9-09BE-C997F57084FA}"/>
              </a:ext>
            </a:extLst>
          </p:cNvPr>
          <p:cNvGrpSpPr/>
          <p:nvPr/>
        </p:nvGrpSpPr>
        <p:grpSpPr>
          <a:xfrm>
            <a:off x="571500" y="2583484"/>
            <a:ext cx="7181850" cy="1691033"/>
            <a:chOff x="2278831" y="2637704"/>
            <a:chExt cx="7181850" cy="169103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9ED4A87-99DE-B8FC-222B-CC87C638BD95}"/>
                </a:ext>
              </a:extLst>
            </p:cNvPr>
            <p:cNvGrpSpPr/>
            <p:nvPr/>
          </p:nvGrpSpPr>
          <p:grpSpPr>
            <a:xfrm>
              <a:off x="2278832" y="2637704"/>
              <a:ext cx="7181849" cy="651204"/>
              <a:chOff x="571500" y="2284396"/>
              <a:chExt cx="7181849" cy="651204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B470D0-F5BE-F203-650E-F4ECB198CB2F}"/>
                  </a:ext>
                </a:extLst>
              </p:cNvPr>
              <p:cNvSpPr txBox="1"/>
              <p:nvPr/>
            </p:nvSpPr>
            <p:spPr>
              <a:xfrm>
                <a:off x="1095374" y="2284396"/>
                <a:ext cx="6657975" cy="65120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640"/>
                  </a:lnSpc>
                </a:pPr>
                <a:r>
                  <a:rPr sz="2400" b="1" i="0" u="none" dirty="0">
                    <a:solidFill>
                      <a:srgbClr val="2563EB"/>
                    </a:solidFill>
                    <a:latin typeface="Inter"/>
                  </a:rPr>
                  <a:t>Battle Royale Support</a:t>
                </a:r>
                <a:r>
                  <a:rPr lang="en-IN" sz="2000" b="1" i="0" u="none" dirty="0">
                    <a:solidFill>
                      <a:srgbClr val="2563EB"/>
                    </a:solidFill>
                    <a:latin typeface="Inter"/>
                  </a:rPr>
                  <a:t>:</a:t>
                </a:r>
                <a:r>
                  <a:rPr sz="2000" b="0" i="0" u="none" dirty="0">
                    <a:solidFill>
                      <a:srgbClr val="475569"/>
                    </a:solidFill>
                    <a:latin typeface="Inter"/>
                  </a:rPr>
                  <a:t> Expanding beyond 1v1 brackets to support 20+ team massive lobbies.</a:t>
                </a:r>
              </a:p>
            </p:txBody>
          </p:sp>
          <p:pic>
            <p:nvPicPr>
              <p:cNvPr id="17" name="Picture 16" descr="image.png">
                <a:extLst>
                  <a:ext uri="{FF2B5EF4-FFF2-40B4-BE49-F238E27FC236}">
                    <a16:creationId xmlns:a16="http://schemas.microsoft.com/office/drawing/2014/main" id="{741E0E35-B3B8-223C-D400-F266891073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1500" y="2350441"/>
                <a:ext cx="266700" cy="276225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7AD56DD-1F55-D316-4A11-1BACEF68F9C7}"/>
                </a:ext>
              </a:extLst>
            </p:cNvPr>
            <p:cNvGrpSpPr/>
            <p:nvPr/>
          </p:nvGrpSpPr>
          <p:grpSpPr>
            <a:xfrm>
              <a:off x="2278831" y="3677533"/>
              <a:ext cx="7181850" cy="651204"/>
              <a:chOff x="571500" y="3324225"/>
              <a:chExt cx="7181850" cy="651204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061824-1A27-5242-3E64-C1DAC9E6190A}"/>
                  </a:ext>
                </a:extLst>
              </p:cNvPr>
              <p:cNvSpPr txBox="1"/>
              <p:nvPr/>
            </p:nvSpPr>
            <p:spPr>
              <a:xfrm>
                <a:off x="1095375" y="3324225"/>
                <a:ext cx="6657975" cy="65120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640"/>
                  </a:lnSpc>
                </a:pPr>
                <a:r>
                  <a:rPr sz="2400" b="1" i="0" u="none" dirty="0">
                    <a:solidFill>
                      <a:srgbClr val="2563EB"/>
                    </a:solidFill>
                    <a:latin typeface="Inter"/>
                  </a:rPr>
                  <a:t>BGIS Point Matrix</a:t>
                </a:r>
                <a:r>
                  <a:rPr lang="en-IN" sz="2000" b="1" i="0" u="none" dirty="0">
                    <a:solidFill>
                      <a:srgbClr val="2563EB"/>
                    </a:solidFill>
                    <a:latin typeface="Inter"/>
                  </a:rPr>
                  <a:t>:</a:t>
                </a:r>
                <a:r>
                  <a:rPr sz="2000" b="0" i="0" u="none" dirty="0">
                    <a:solidFill>
                      <a:srgbClr val="475569"/>
                    </a:solidFill>
                    <a:latin typeface="Inter"/>
                  </a:rPr>
                  <a:t> Advanced scoring systems for survival placement and kill points.</a:t>
                </a:r>
              </a:p>
            </p:txBody>
          </p:sp>
          <p:pic>
            <p:nvPicPr>
              <p:cNvPr id="19" name="Picture 18" descr="image.png">
                <a:extLst>
                  <a:ext uri="{FF2B5EF4-FFF2-40B4-BE49-F238E27FC236}">
                    <a16:creationId xmlns:a16="http://schemas.microsoft.com/office/drawing/2014/main" id="{CB06E2A0-B8DD-4CF7-FC69-22D7758E82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1500" y="3357562"/>
                <a:ext cx="266700" cy="276225"/>
              </a:xfrm>
              <a:prstGeom prst="rect">
                <a:avLst/>
              </a:prstGeom>
            </p:spPr>
          </p:pic>
        </p:grp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CADD1E2-7359-25CB-4483-572766B874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70"/>
            <a:ext cx="631596" cy="66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307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>
            <a:alpha val="27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240122-AEDF-01E6-A53E-C32DAD460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10C16AD-7D0B-E1C6-9DFE-AEEDB99D612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-2468029" y="-183199"/>
            <a:ext cx="8354170" cy="84513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08A834-2CB4-F33B-30B9-0B7F0D97F225}"/>
              </a:ext>
            </a:extLst>
          </p:cNvPr>
          <p:cNvSpPr txBox="1"/>
          <p:nvPr/>
        </p:nvSpPr>
        <p:spPr>
          <a:xfrm>
            <a:off x="1616458" y="2544143"/>
            <a:ext cx="8959085" cy="1769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1500" dirty="0">
                <a:solidFill>
                  <a:srgbClr val="2563EB"/>
                </a:solidFill>
                <a:latin typeface="Poppins ExtraBold"/>
              </a:rPr>
              <a:t>T</a:t>
            </a:r>
            <a:r>
              <a:rPr lang="en-IN" sz="11500" dirty="0">
                <a:solidFill>
                  <a:srgbClr val="2563EB"/>
                </a:solidFill>
                <a:latin typeface="Poppins ExtraBold"/>
              </a:rPr>
              <a:t>hank You</a:t>
            </a:r>
            <a:endParaRPr sz="11500" b="0" i="0" u="none" dirty="0">
              <a:solidFill>
                <a:srgbClr val="F97316"/>
              </a:solidFill>
              <a:latin typeface="Poppins Extra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04F999-E72D-B73E-655F-4684B34EF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5818" y="0"/>
            <a:ext cx="3217328" cy="6131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D1F66A-4474-ABC5-FE24-DE7B2660D7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70"/>
            <a:ext cx="631596" cy="66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742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367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Calibri Light</vt:lpstr>
      <vt:lpstr>Inter</vt:lpstr>
      <vt:lpstr>Poppins</vt:lpstr>
      <vt:lpstr>Poppins ExtraBold</vt:lpstr>
      <vt:lpstr>Poppins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vansh gajjar</dc:creator>
  <cp:lastModifiedBy>Ansh Gajera</cp:lastModifiedBy>
  <cp:revision>27</cp:revision>
  <dcterms:created xsi:type="dcterms:W3CDTF">2026-08-01T14:25:27Z</dcterms:created>
  <dcterms:modified xsi:type="dcterms:W3CDTF">2026-08-06T08:07:41Z</dcterms:modified>
</cp:coreProperties>
</file>